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75488"/>
            <a:ext cx="713232" cy="713232"/>
          </a:xfrm>
          <a:prstGeom prst="rect">
            <a:avLst/>
          </a:prstGeom>
          <a:solidFill>
            <a:srgbClr val="0000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AXA</a:t>
            </a:r>
          </a:p>
        </p:txBody>
      </p:sp>
      <p:sp>
        <p:nvSpPr>
          <p:cNvPr id="3" name="Right Triangle 2"/>
          <p:cNvSpPr/>
          <p:nvPr/>
        </p:nvSpPr>
        <p:spPr>
          <a:xfrm>
            <a:off x="1069848" y="475488"/>
            <a:ext cx="301752" cy="301752"/>
          </a:xfrm>
          <a:prstGeom prst="rtTriangle">
            <a:avLst/>
          </a:prstGeom>
          <a:solidFill>
            <a:srgbClr val="FF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554480"/>
            <a:ext cx="7955279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00008F"/>
                </a:solidFill>
              </a:defRPr>
            </a:pPr>
            <a:r>
              <a:t>Coach AXA Prevention</a:t>
            </a:r>
          </a:p>
          <a:p>
            <a:pPr>
              <a:defRPr sz="4200" b="1">
                <a:solidFill>
                  <a:srgbClr val="00008F"/>
                </a:solidFill>
              </a:defRPr>
            </a:pPr>
            <a:r>
              <a:t>MVP RAG securite routiere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4005072"/>
            <a:ext cx="8138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1F2E"/>
                </a:solidFill>
              </a:defRPr>
            </a:pPr>
            <a:r>
              <a:t>Demo web standalone + support architecture pour entretien. Inspire du Coach AXA Prevention public.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8920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1721"/>
                </a:solidFill>
              </a:defRPr>
            </a:pPr>
            <a:r>
              <a:t>URL demo: https://axa-prevention-coach.vercel.app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45720"/>
          </a:xfrm>
          <a:prstGeom prst="rect">
            <a:avLst/>
          </a:prstGeom>
          <a:solidFill>
            <a:srgbClr val="FF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62025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270"/>
                </a:solidFill>
              </a:defRPr>
            </a:pPr>
            <a:r>
              <a:t>Prototype technique non officiel - support entretien - axa-prevention-coach.vercel.app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75488"/>
            <a:ext cx="713232" cy="713232"/>
          </a:xfrm>
          <a:prstGeom prst="rect">
            <a:avLst/>
          </a:prstGeom>
          <a:solidFill>
            <a:srgbClr val="0000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AXA</a:t>
            </a:r>
          </a:p>
        </p:txBody>
      </p:sp>
      <p:sp>
        <p:nvSpPr>
          <p:cNvPr id="3" name="Right Triangle 2"/>
          <p:cNvSpPr/>
          <p:nvPr/>
        </p:nvSpPr>
        <p:spPr>
          <a:xfrm>
            <a:off x="1069848" y="475488"/>
            <a:ext cx="301752" cy="301752"/>
          </a:xfrm>
          <a:prstGeom prst="rtTriangle">
            <a:avLst/>
          </a:prstGeom>
          <a:solidFill>
            <a:srgbClr val="FF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72768" y="502920"/>
            <a:ext cx="98755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8F"/>
                </a:solidFill>
              </a:defRPr>
            </a:pPr>
            <a:r>
              <a:t>Ce que montre le MVP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91056" y="1060704"/>
            <a:ext cx="9692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270"/>
                </a:solidFill>
              </a:defRPr>
            </a:pPr>
            <a:r>
              <a:t>Le web reste simple et proche du service public AXA Prevention; le detail technique est dans ce support.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607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1F2E"/>
                </a:solidFill>
              </a:defRPr>
            </a:pPr>
            <a:r>
              <a:t>Assistant conversationnel dedie a la prevention routiere.</a:t>
            </a:r>
          </a:p>
          <a:p>
            <a:pPr>
              <a:spcAft>
                <a:spcPts val="800"/>
              </a:spcAft>
              <a:defRPr sz="1800">
                <a:solidFill>
                  <a:srgbClr val="1F1F2E"/>
                </a:solidFill>
              </a:defRPr>
            </a:pPr>
            <a:r>
              <a:t>Experience sobre: question, reponse, suggestions, sources en transparence.</a:t>
            </a:r>
          </a:p>
          <a:p>
            <a:pPr>
              <a:spcAft>
                <a:spcPts val="800"/>
              </a:spcAft>
              <a:defRPr sz="1800">
                <a:solidFill>
                  <a:srgbClr val="1F1F2E"/>
                </a:solidFill>
              </a:defRPr>
            </a:pPr>
            <a:r>
              <a:t>Scenarios entretien: vitesse, telephone au volant en entreprise, accident materiel leger.</a:t>
            </a:r>
          </a:p>
          <a:p>
            <a:pPr>
              <a:spcAft>
                <a:spcPts val="800"/>
              </a:spcAft>
              <a:defRPr sz="1800">
                <a:solidFill>
                  <a:srgbClr val="1F1F2E"/>
                </a:solidFill>
              </a:defRPr>
            </a:pPr>
            <a:r>
              <a:t>Le web convainc par l’usage; ce support explique RAG, multi-agents, cloud et securite.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45720"/>
          </a:xfrm>
          <a:prstGeom prst="rect">
            <a:avLst/>
          </a:prstGeom>
          <a:solidFill>
            <a:srgbClr val="FF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62025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270"/>
                </a:solidFill>
              </a:defRPr>
            </a:pPr>
            <a:r>
              <a:t>Prototype technique non officiel - support entretien - axa-prevention-coach.vercel.app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75488"/>
            <a:ext cx="713232" cy="713232"/>
          </a:xfrm>
          <a:prstGeom prst="rect">
            <a:avLst/>
          </a:prstGeom>
          <a:solidFill>
            <a:srgbClr val="0000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AXA</a:t>
            </a:r>
          </a:p>
        </p:txBody>
      </p:sp>
      <p:sp>
        <p:nvSpPr>
          <p:cNvPr id="3" name="Right Triangle 2"/>
          <p:cNvSpPr/>
          <p:nvPr/>
        </p:nvSpPr>
        <p:spPr>
          <a:xfrm>
            <a:off x="1069848" y="475488"/>
            <a:ext cx="301752" cy="301752"/>
          </a:xfrm>
          <a:prstGeom prst="rtTriangle">
            <a:avLst/>
          </a:prstGeom>
          <a:solidFill>
            <a:srgbClr val="FF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72768" y="502920"/>
            <a:ext cx="98755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8F"/>
                </a:solidFill>
              </a:defRPr>
            </a:pPr>
            <a:r>
              <a:t>Reference publique AXA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91056" y="1060704"/>
            <a:ext cx="9692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270"/>
                </a:solidFill>
              </a:defRPr>
            </a:pPr>
            <a:r>
              <a:t>Le prototype est ancre sur des signaux publics.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515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1F2E"/>
                </a:solidFill>
              </a:defRPr>
            </a:pPr>
            <a:r>
              <a:t>Coach AXA Prevention: https://www.axaprevention.fr/fr/Coach_Prevention</a:t>
            </a:r>
          </a:p>
          <a:p>
            <a:pPr>
              <a:spcAft>
                <a:spcPts val="800"/>
              </a:spcAft>
              <a:defRPr sz="1800">
                <a:solidFill>
                  <a:srgbClr val="1F1F2E"/>
                </a:solidFill>
              </a:defRPr>
            </a:pPr>
            <a:r>
              <a:t>Assistant Prevention observe: https://axaprevention.fr/fr/assistantprevention</a:t>
            </a:r>
          </a:p>
          <a:p>
            <a:pPr>
              <a:spcAft>
                <a:spcPts val="800"/>
              </a:spcAft>
              <a:defRPr sz="1800">
                <a:solidFill>
                  <a:srgbClr val="1F1F2E"/>
                </a:solidFill>
              </a:defRPr>
            </a:pPr>
            <a:r>
              <a:t>Article RAG: L'Assurance en Mouvement, 18/11/2024.</a:t>
            </a:r>
          </a:p>
          <a:p>
            <a:pPr>
              <a:spcAft>
                <a:spcPts val="800"/>
              </a:spcAft>
              <a:defRPr sz="1800">
                <a:solidFill>
                  <a:srgbClr val="1F1F2E"/>
                </a:solidFill>
              </a:defRPr>
            </a:pPr>
            <a:r>
              <a:t>Article: assistant conversationnel de prevention routiere, systeme RAG, barometre AXA Prevention, Illuin Technology.</a:t>
            </a:r>
          </a:p>
          <a:p>
            <a:pPr>
              <a:spcAft>
                <a:spcPts val="800"/>
              </a:spcAft>
              <a:defRPr sz="1800">
                <a:solidFill>
                  <a:srgbClr val="1F1F2E"/>
                </a:solidFill>
              </a:defRPr>
            </a:pPr>
            <a:r>
              <a:t>Contexte stack public: AXA France / Databricks, AXA Secure GPT / Azure OpenAI.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45720"/>
          </a:xfrm>
          <a:prstGeom prst="rect">
            <a:avLst/>
          </a:prstGeom>
          <a:solidFill>
            <a:srgbClr val="FF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62025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270"/>
                </a:solidFill>
              </a:defRPr>
            </a:pPr>
            <a:r>
              <a:t>Prototype technique non officiel - support entretien - axa-prevention-coach.vercel.app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75488"/>
            <a:ext cx="713232" cy="713232"/>
          </a:xfrm>
          <a:prstGeom prst="rect">
            <a:avLst/>
          </a:prstGeom>
          <a:solidFill>
            <a:srgbClr val="0000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AXA</a:t>
            </a:r>
          </a:p>
        </p:txBody>
      </p:sp>
      <p:sp>
        <p:nvSpPr>
          <p:cNvPr id="3" name="Right Triangle 2"/>
          <p:cNvSpPr/>
          <p:nvPr/>
        </p:nvSpPr>
        <p:spPr>
          <a:xfrm>
            <a:off x="1069848" y="475488"/>
            <a:ext cx="301752" cy="301752"/>
          </a:xfrm>
          <a:prstGeom prst="rtTriangle">
            <a:avLst/>
          </a:prstGeom>
          <a:solidFill>
            <a:srgbClr val="FF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72768" y="502920"/>
            <a:ext cx="98755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Architecture RAG / agents recommandée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91056" y="1060704"/>
            <a:ext cx="9692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Choix pragmatique: LangSmith Deployment EU + Agent Server semantic store.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2057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0000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Vercel</a:t>
            </a:r>
          </a:p>
          <a:p>
            <a:r>
              <a:t>Next.js standalone, /api/chat + /coach_bot BFF-compatible, URL partageable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1800" y="1965960"/>
            <a:ext cx="2057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0000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LangGraph</a:t>
            </a:r>
          </a:p>
          <a:p>
            <a:r>
              <a:t>classifyIntent -&gt; retrieveContext -&gt; scoreRisk -&gt; coachAnswer -&gt; complianceCheck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0" y="1965960"/>
            <a:ext cx="2057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0000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LangSmith Deployment EU</a:t>
            </a:r>
          </a:p>
          <a:p>
            <a:r>
              <a:t>Agent Server dev/free, assistants, threads, runs, traces LangSmith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1965960"/>
            <a:ext cx="2057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0000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Semantic store</a:t>
            </a:r>
          </a:p>
          <a:p>
            <a:r>
              <a:t>Store LangGraph indexé embeddings, corpus AXA page-level, fallback local robuste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92640" y="1965960"/>
            <a:ext cx="2057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0000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Enterprise trajectory</a:t>
            </a:r>
          </a:p>
          <a:p>
            <a:r>
              <a:t>Azure OpenAI + Databricks/Delta/Unity Catalog pour industrialiser gouvernance et donnees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45720"/>
          </a:xfrm>
          <a:prstGeom prst="rect">
            <a:avLst/>
          </a:prstGeom>
          <a:solidFill>
            <a:srgbClr val="FF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62025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270"/>
                </a:solidFill>
              </a:defRPr>
            </a:pPr>
            <a:r>
              <a:t>Prototype technique non officiel - support entretien - axa-prevention-coach.vercel.app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75488"/>
            <a:ext cx="713232" cy="713232"/>
          </a:xfrm>
          <a:prstGeom prst="rect">
            <a:avLst/>
          </a:prstGeom>
          <a:solidFill>
            <a:srgbClr val="0000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AXA</a:t>
            </a:r>
          </a:p>
        </p:txBody>
      </p:sp>
      <p:sp>
        <p:nvSpPr>
          <p:cNvPr id="3" name="Right Triangle 2"/>
          <p:cNvSpPr/>
          <p:nvPr/>
        </p:nvSpPr>
        <p:spPr>
          <a:xfrm>
            <a:off x="1069848" y="475488"/>
            <a:ext cx="301752" cy="301752"/>
          </a:xfrm>
          <a:prstGeom prst="rtTriangle">
            <a:avLst/>
          </a:prstGeom>
          <a:solidFill>
            <a:srgbClr val="FF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72768" y="502920"/>
            <a:ext cx="98755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8F"/>
                </a:solidFill>
              </a:defRPr>
            </a:pPr>
            <a:r>
              <a:t>Securite, gouvernance, conformite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91056" y="1060704"/>
            <a:ext cx="9692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270"/>
                </a:solidFill>
              </a:defRPr>
            </a:pPr>
            <a:r>
              <a:t>Les points a verbaliser pendant l’entretien.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607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1F2E"/>
                </a:solidFill>
              </a:defRPr>
            </a:pPr>
            <a:r>
              <a:t>Separation stricte instructions systeme / documents RAG.</a:t>
            </a:r>
          </a:p>
          <a:p>
            <a:pPr>
              <a:spcAft>
                <a:spcPts val="800"/>
              </a:spcAft>
              <a:defRPr sz="1800">
                <a:solidFill>
                  <a:srgbClr val="1F1F2E"/>
                </a:solidFill>
              </a:defRPr>
            </a:pPr>
            <a:r>
              <a:t>Citations et transparence des sources pour limiter les hallucinations.</a:t>
            </a:r>
          </a:p>
          <a:p>
            <a:pPr>
              <a:spcAft>
                <a:spcPts val="800"/>
              </a:spcAft>
              <a:defRPr sz="1800">
                <a:solidFill>
                  <a:srgbClr val="1F1F2E"/>
                </a:solidFill>
              </a:defRPr>
            </a:pPr>
            <a:r>
              <a:t>Journalisation des traces de graphe et evaluation continue des reponses.</a:t>
            </a:r>
          </a:p>
          <a:p>
            <a:pPr>
              <a:spcAft>
                <a:spcPts val="800"/>
              </a:spcAft>
              <a:defRPr sz="1800">
                <a:solidFill>
                  <a:srgbClr val="1F1F2E"/>
                </a:solidFill>
              </a:defRPr>
            </a:pPr>
            <a:r>
              <a:t>Minimisation des donnees personnelles; pas de collecte inutile cote demo.</a:t>
            </a:r>
          </a:p>
          <a:p>
            <a:pPr>
              <a:spcAft>
                <a:spcPts val="800"/>
              </a:spcAft>
              <a:defRPr sz="1800">
                <a:solidFill>
                  <a:srgbClr val="1F1F2E"/>
                </a:solidFill>
              </a:defRPr>
            </a:pPr>
            <a:r>
              <a:t>Escalade humaine pour juridique, medical, sinistre complexe ou urgence.</a:t>
            </a:r>
          </a:p>
          <a:p>
            <a:pPr>
              <a:spcAft>
                <a:spcPts val="800"/>
              </a:spcAft>
              <a:defRPr sz="1800">
                <a:solidFill>
                  <a:srgbClr val="1F1F2E"/>
                </a:solidFill>
              </a:defRPr>
            </a:pPr>
            <a:r>
              <a:t>Guardrails: injection de prompt, contenu hors corpus, toxicite, jailbreak.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45720"/>
          </a:xfrm>
          <a:prstGeom prst="rect">
            <a:avLst/>
          </a:prstGeom>
          <a:solidFill>
            <a:srgbClr val="FF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62025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270"/>
                </a:solidFill>
              </a:defRPr>
            </a:pPr>
            <a:r>
              <a:t>Prototype technique non officiel - support entretien - axa-prevention-coach.vercel.app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75488"/>
            <a:ext cx="713232" cy="713232"/>
          </a:xfrm>
          <a:prstGeom prst="rect">
            <a:avLst/>
          </a:prstGeom>
          <a:solidFill>
            <a:srgbClr val="0000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AXA</a:t>
            </a:r>
          </a:p>
        </p:txBody>
      </p:sp>
      <p:sp>
        <p:nvSpPr>
          <p:cNvPr id="3" name="Right Triangle 2"/>
          <p:cNvSpPr/>
          <p:nvPr/>
        </p:nvSpPr>
        <p:spPr>
          <a:xfrm>
            <a:off x="1069848" y="475488"/>
            <a:ext cx="301752" cy="301752"/>
          </a:xfrm>
          <a:prstGeom prst="rtTriangle">
            <a:avLst/>
          </a:prstGeom>
          <a:solidFill>
            <a:srgbClr val="FF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72768" y="502920"/>
            <a:ext cx="98755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8F"/>
                </a:solidFill>
              </a:defRPr>
            </a:pPr>
            <a:r>
              <a:t>Script demo en entretien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91056" y="1060704"/>
            <a:ext cx="9692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270"/>
                </a:solidFill>
              </a:defRPr>
            </a:pPr>
            <a:r>
              <a:t>Faire court: usage d’abord, architecture ensuite.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698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1. Ouvrir https://axa-prevention-coach.vercel.app</a:t>
            </a:r>
          </a:p>
          <a:p>
            <a:r>
              <a:t>2. Montrer que l’interface ressemble au service AXA Prevention, pas a un cockpit technique.</a:t>
            </a:r>
          </a:p>
          <a:p>
            <a:r>
              <a:t>3. Cliquer sur une question suggeree: vitesse ou gaz a effet de serre.</a:t>
            </a:r>
          </a:p>
          <a:p>
            <a:r>
              <a:t>4. Souligner: conseil actionnable, citations ordonnees, sources accessibles.</a:t>
            </a:r>
          </a:p>
          <a:p>
            <a:r>
              <a:t>5. Basculer sur ce support pour expliquer RAG, multi-agents, cloud et securite.</a:t>
            </a:r>
          </a:p>
          <a:p>
            <a:r>
              <a:t>6. Conclure: LangGraph, LangSmith Deployment EU, semantic store, puis Azure/Databricks pour industrialiser.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45720"/>
          </a:xfrm>
          <a:prstGeom prst="rect">
            <a:avLst/>
          </a:prstGeom>
          <a:solidFill>
            <a:srgbClr val="FF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62025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270"/>
                </a:solidFill>
              </a:defRPr>
            </a:pPr>
            <a:r>
              <a:t>Prototype technique non officiel - support entretien - axa-prevention-coach.vercel.app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00008F"/>
                </a:solidFill>
              </a:rPr>
              <a:t>AXA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01168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00008F"/>
                </a:solidFill>
              </a:rPr>
              <a:t>Reverse engineering public: Assistant Prévention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685800"/>
            <a:ext cx="10241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C6070"/>
                </a:solidFill>
              </a:rPr>
              <a:t>Ce qui est observé depuis le navigateur, sans accès interne AXA.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3383280" cy="1051560"/>
          </a:xfrm>
          <a:prstGeom prst="rect">
            <a:avLst/>
          </a:prstGeom>
          <a:solidFill>
            <a:srgbClr val="F6F7FB"/>
          </a:solidFill>
          <a:ln>
            <a:solidFill>
              <a:srgbClr val="E2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97680" y="1234440"/>
            <a:ext cx="3383280" cy="1051560"/>
          </a:xfrm>
          <a:prstGeom prst="rect">
            <a:avLst/>
          </a:prstGeom>
          <a:solidFill>
            <a:srgbClr val="F6F7FB"/>
          </a:solidFill>
          <a:ln>
            <a:solidFill>
              <a:srgbClr val="E2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01000" y="1234440"/>
            <a:ext cx="3383280" cy="1051560"/>
          </a:xfrm>
          <a:prstGeom prst="rect">
            <a:avLst/>
          </a:prstGeom>
          <a:solidFill>
            <a:srgbClr val="F6F7FB"/>
          </a:solidFill>
          <a:ln>
            <a:solidFill>
              <a:srgbClr val="E2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2971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00008F"/>
                </a:solidFill>
              </a:rPr>
              <a:t>Page parente</a:t>
            </a:r>
          </a:p>
          <a:p>
            <a:pPr>
              <a:defRPr sz="1000">
                <a:solidFill>
                  <a:srgbClr val="20222D"/>
                </a:solidFill>
              </a:defRPr>
            </a:pPr>
            <a:r>
              <a:t>axaprevention.fr/fr/assistantprevention</a:t>
            </a:r>
            <a:br/>
            <a:r>
              <a:t>iframe allow="microphone; clipboard-write"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389888"/>
            <a:ext cx="2971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00008F"/>
                </a:solidFill>
              </a:rPr>
              <a:t>BFF public</a:t>
            </a:r>
          </a:p>
          <a:p>
            <a:pPr>
              <a:defRPr sz="1000">
                <a:solidFill>
                  <a:srgbClr val="20222D"/>
                </a:solidFill>
              </a:defRPr>
            </a:pPr>
            <a:r>
              <a:t>coach-prevention-bff.axa.fr</a:t>
            </a:r>
            <a:br/>
            <a:r>
              <a:t>React/Vite SPA + CSP/HSTS + cookies WAF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1389888"/>
            <a:ext cx="2971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00008F"/>
                </a:solidFill>
              </a:rPr>
              <a:t>Moteur RAG</a:t>
            </a:r>
          </a:p>
          <a:p>
            <a:pPr>
              <a:defRPr sz="1000">
                <a:solidFill>
                  <a:srgbClr val="20222D"/>
                </a:solidFill>
              </a:defRPr>
            </a:pPr>
            <a:r>
              <a:t>POST /coach_bot</a:t>
            </a:r>
            <a:br/>
            <a:r>
              <a:t>réponse + sources + telemetry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43200"/>
            <a:ext cx="10607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0222D"/>
                </a:solidFill>
              </a:defRPr>
            </a:pPr>
            <a:r>
              <a:t>Assets observés: /assets/index-DhNKf1DY.js, /assets/index-BlXsxQyu.css, /assets/pdf.worker.min-GB3t0DcA.mjs.</a:t>
            </a:r>
          </a:p>
          <a:p>
            <a:pPr>
              <a:spcAft>
                <a:spcPts val="400"/>
              </a:spcAft>
              <a:defRPr sz="1200">
                <a:solidFill>
                  <a:srgbClr val="20222D"/>
                </a:solidFill>
              </a:defRPr>
            </a:pPr>
            <a:r>
              <a:t>Le front tente GET /environment.prod.json puis appelle environment.url ou le même host.</a:t>
            </a:r>
          </a:p>
          <a:p>
            <a:pPr>
              <a:spcAft>
                <a:spcPts val="400"/>
              </a:spcAft>
              <a:defRPr sz="1200">
                <a:solidFill>
                  <a:srgbClr val="20222D"/>
                </a:solidFill>
              </a:defRPr>
            </a:pPr>
            <a:r>
              <a:t>Les domaines fonctionnels visibles sont securite_routiere et climat, avec guides PDF publics.</a:t>
            </a:r>
          </a:p>
          <a:p>
            <a:pPr>
              <a:spcAft>
                <a:spcPts val="400"/>
              </a:spcAft>
              <a:defRPr sz="1200">
                <a:solidFill>
                  <a:srgbClr val="20222D"/>
                </a:solidFill>
              </a:defRPr>
            </a:pPr>
            <a:r>
              <a:t>Les metrics eco/FinOps sont dans data.metadata de /coach_bot, pas dans un endpoint séparé observé.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00008F"/>
                </a:solidFill>
              </a:rPr>
              <a:t>AXA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01168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00008F"/>
                </a:solidFill>
              </a:rPr>
              <a:t>Calls &amp; replies observés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685800"/>
            <a:ext cx="10241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C6070"/>
                </a:solidFill>
              </a:rPr>
              <a:t>Shape utile pour démontrer la compréhension du BFF et du contrat front/backend.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109728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E2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07592"/>
            <a:ext cx="2834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00008F"/>
                </a:solidFill>
              </a:rPr>
              <a:t>GET 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307592"/>
            <a:ext cx="3291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20222D"/>
                </a:solidFill>
              </a:rPr>
              <a:t>HTML Vite + assets JS/CSS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86600" y="1307592"/>
            <a:ext cx="4114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20222D"/>
                </a:solidFill>
              </a:rPr>
              <a:t>Charge l’app iframe.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673352"/>
            <a:ext cx="10972800" cy="393192"/>
          </a:xfrm>
          <a:prstGeom prst="rect">
            <a:avLst/>
          </a:prstGeom>
          <a:solidFill>
            <a:srgbClr val="F6F7FB"/>
          </a:solidFill>
          <a:ln>
            <a:solidFill>
              <a:srgbClr val="E2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46504"/>
            <a:ext cx="2834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00008F"/>
                </a:solidFill>
              </a:rPr>
              <a:t>GET /environment.prod.json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746504"/>
            <a:ext cx="3291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20222D"/>
                </a:solidFill>
              </a:rPr>
              <a:t>200 via navigateur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1746504"/>
            <a:ext cx="4114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20222D"/>
                </a:solidFill>
              </a:rPr>
              <a:t>Config runtime; fallback même host si non JSON.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112264"/>
            <a:ext cx="109728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E2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185416"/>
            <a:ext cx="2834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00008F"/>
                </a:solidFill>
              </a:rPr>
              <a:t>POST /coach_bot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185416"/>
            <a:ext cx="3291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20222D"/>
                </a:solidFill>
              </a:rPr>
              <a:t>{config,input,kwargs}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2185416"/>
            <a:ext cx="4114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20222D"/>
                </a:solidFill>
              </a:rPr>
              <a:t>{error_code,is_success,data:{output,metadata}}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2551176"/>
            <a:ext cx="10972800" cy="393192"/>
          </a:xfrm>
          <a:prstGeom prst="rect">
            <a:avLst/>
          </a:prstGeom>
          <a:solidFill>
            <a:srgbClr val="F6F7FB"/>
          </a:solidFill>
          <a:ln>
            <a:solidFill>
              <a:srgbClr val="E2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624328"/>
            <a:ext cx="2834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00008F"/>
                </a:solidFill>
              </a:rPr>
              <a:t>GET /guide/securite_routiere#16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2624328"/>
            <a:ext cx="3291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20222D"/>
                </a:solidFill>
              </a:rPr>
              <a:t>route React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2624328"/>
            <a:ext cx="4114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20222D"/>
                </a:solidFill>
              </a:rPr>
              <a:t>Ouvre la source citée.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2990088"/>
            <a:ext cx="109728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E2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063240"/>
            <a:ext cx="2834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00008F"/>
                </a:solidFill>
              </a:rPr>
              <a:t>GET /guides/securite_routiere/guide.pdf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3063240"/>
            <a:ext cx="3291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20222D"/>
                </a:solidFill>
              </a:rPr>
              <a:t>200 puis 206 range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3063240"/>
            <a:ext cx="4114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20222D"/>
                </a:solidFill>
              </a:rPr>
              <a:t>PDF viewer react-pdf.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3429000"/>
            <a:ext cx="10972800" cy="393192"/>
          </a:xfrm>
          <a:prstGeom prst="rect">
            <a:avLst/>
          </a:prstGeom>
          <a:solidFill>
            <a:srgbClr val="F6F7FB"/>
          </a:solidFill>
          <a:ln>
            <a:solidFill>
              <a:srgbClr val="E2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3502152"/>
            <a:ext cx="2834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00008F"/>
                </a:solidFill>
              </a:rPr>
              <a:t>POST /generate-audio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3502152"/>
            <a:ext cx="3291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20222D"/>
                </a:solidFill>
              </a:rPr>
              <a:t>FormData(text)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3502152"/>
            <a:ext cx="4114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20222D"/>
                </a:solidFill>
              </a:rPr>
              <a:t>Voix, avec X-CSRF: 1.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3867912"/>
            <a:ext cx="109728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E2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3941064"/>
            <a:ext cx="2834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00008F"/>
                </a:solidFill>
              </a:rPr>
              <a:t>GET /audio-status/:id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3941064"/>
            <a:ext cx="3291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20222D"/>
                </a:solidFill>
              </a:rPr>
              <a:t>SSE text/event-stream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6600" y="3941064"/>
            <a:ext cx="4114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20222D"/>
                </a:solidFill>
              </a:rPr>
              <a:t>Polling/stream état audio.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4306824"/>
            <a:ext cx="10972800" cy="393192"/>
          </a:xfrm>
          <a:prstGeom prst="rect">
            <a:avLst/>
          </a:prstGeom>
          <a:solidFill>
            <a:srgbClr val="F6F7FB"/>
          </a:solidFill>
          <a:ln>
            <a:solidFill>
              <a:srgbClr val="E2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4379976"/>
            <a:ext cx="2834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00008F"/>
                </a:solidFill>
              </a:rPr>
              <a:t>GET /get-audio/:id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4379976"/>
            <a:ext cx="3291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20222D"/>
                </a:solidFill>
              </a:rPr>
              <a:t>Blob audio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4379976"/>
            <a:ext cx="4114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20222D"/>
                </a:solidFill>
              </a:rPr>
              <a:t>Lecture réponse vocale.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4983480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20222D"/>
                </a:solidFill>
              </a:defRPr>
            </a:pPr>
            <a:r>
              <a:t>Payload capture: input.input = "Quelles sont les raisons de limiter la vitesse sur la route ?", chat_history = [].</a:t>
            </a:r>
          </a:p>
          <a:p>
            <a:pPr>
              <a:spcAft>
                <a:spcPts val="400"/>
              </a:spcAft>
              <a:defRPr sz="1000">
                <a:solidFill>
                  <a:srgbClr val="20222D"/>
                </a:solidFill>
              </a:defRPr>
            </a:pPr>
            <a:r>
              <a:t>Metadata capture: total_tokens, input_tokens, output_tokens, embedding_tokens, co2_emissions, cost, response_time.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00008F"/>
                </a:solidFill>
              </a:rPr>
              <a:t>AXA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01168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00008F"/>
                </a:solidFill>
              </a:rPr>
              <a:t>Benchmark source: question vitesse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685800"/>
            <a:ext cx="10241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C6070"/>
                </a:solidFill>
              </a:rPr>
              <a:t>Objectif MVP: comportement 1:1 sur faits, sources et concision, pas copie aveugle.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5394960" cy="4251960"/>
          </a:xfrm>
          <a:prstGeom prst="rect">
            <a:avLst/>
          </a:prstGeom>
          <a:solidFill>
            <a:srgbClr val="FFFFFF"/>
          </a:solidFill>
          <a:ln>
            <a:solidFill>
              <a:srgbClr val="E2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3640" y="1143000"/>
            <a:ext cx="5303520" cy="4251960"/>
          </a:xfrm>
          <a:prstGeom prst="rect">
            <a:avLst/>
          </a:prstGeom>
          <a:solidFill>
            <a:srgbClr val="FFFFFF"/>
          </a:solidFill>
          <a:ln>
            <a:solidFill>
              <a:srgbClr val="E2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53312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00008F"/>
                </a:solidFill>
              </a:rPr>
              <a:t>Réponse AXA observée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470916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0222D"/>
                </a:solidFill>
              </a:defRPr>
            </a:pPr>
            <a:r>
              <a:t>Distance d’arrêt x4 quand la vitesse double — page 20.</a:t>
            </a:r>
          </a:p>
          <a:p>
            <a:pPr>
              <a:spcAft>
                <a:spcPts val="400"/>
              </a:spcAft>
              <a:defRPr sz="1200">
                <a:solidFill>
                  <a:srgbClr val="20222D"/>
                </a:solidFill>
              </a:defRPr>
            </a:pPr>
            <a:r>
              <a:t>Champ de vision réduit, adhérence moindre, pertes de contrôle — page 20.</a:t>
            </a:r>
          </a:p>
          <a:p>
            <a:pPr>
              <a:spcAft>
                <a:spcPts val="400"/>
              </a:spcAft>
              <a:defRPr sz="1200">
                <a:solidFill>
                  <a:srgbClr val="20222D"/>
                </a:solidFill>
              </a:defRPr>
            </a:pPr>
            <a:r>
              <a:t>Vitesse excessive/inadaptée associée à 28 % des accidents mortels 2023 — page 16.</a:t>
            </a:r>
          </a:p>
          <a:p>
            <a:pPr>
              <a:spcAft>
                <a:spcPts val="400"/>
              </a:spcAft>
              <a:defRPr sz="1200">
                <a:solidFill>
                  <a:srgbClr val="20222D"/>
                </a:solidFill>
              </a:defRPr>
            </a:pPr>
            <a:r>
              <a:t>Baisser la vitesse moyenne de 1 % baisse le taux d’accident mortel de 4 % — page 16.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353312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00008F"/>
                </a:solidFill>
              </a:rPr>
              <a:t>Alignement MVP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783080"/>
            <a:ext cx="470916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0222D"/>
                </a:solidFill>
              </a:defRPr>
            </a:pPr>
            <a:r>
              <a:t>Même question préprompt visible.</a:t>
            </a:r>
          </a:p>
          <a:p>
            <a:pPr>
              <a:spcAft>
                <a:spcPts val="400"/>
              </a:spcAft>
              <a:defRPr sz="1200">
                <a:solidFill>
                  <a:srgbClr val="20222D"/>
                </a:solidFill>
              </a:defRPr>
            </a:pPr>
            <a:r>
              <a:t>Même structure courte et actionnable.</a:t>
            </a:r>
          </a:p>
          <a:p>
            <a:pPr>
              <a:spcAft>
                <a:spcPts val="400"/>
              </a:spcAft>
              <a:defRPr sz="1200">
                <a:solidFill>
                  <a:srgbClr val="20222D"/>
                </a:solidFill>
              </a:defRPr>
            </a:pPr>
            <a:r>
              <a:t>Citations numérotées [1] à [4] ouvrant /guide/securite_routiere#16 ou #20.</a:t>
            </a:r>
          </a:p>
          <a:p>
            <a:pPr>
              <a:spcAft>
                <a:spcPts val="400"/>
              </a:spcAft>
              <a:defRPr sz="1200">
                <a:solidFill>
                  <a:srgbClr val="20222D"/>
                </a:solidFill>
              </a:defRPr>
            </a:pPr>
            <a:r>
              <a:t>Sources PDF AXA/Legifrance intégrées au corpus RAG local/cloud.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00008F"/>
                </a:solidFill>
              </a:rPr>
              <a:t>AXA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01168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Ce que le prototype démontre en entretien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685800"/>
            <a:ext cx="10241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Reverse engineering sérieux + cloud RAG concret + trajectoire Azure/Databricks.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424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UX: assistant standalone proche de l’iframe AXA, header AXA Prévention, preprompts identiques et sources cliquables.</a:t>
            </a:r>
          </a:p>
          <a:p>
            <a:r>
              <a:t>Contrat API: /coach_bot compatible BFF pour montrer qu’on a compris le flux front/backend.</a:t>
            </a:r>
          </a:p>
          <a:p>
            <a:r>
              <a:t>RAG cloud cible: LangGraph + LangSmith Deployment EU + semantic store, corpus AXA/Legifrance et citations page-level.</a:t>
            </a:r>
          </a:p>
          <a:p>
            <a:r>
              <a:t>Voix: dictée navigateur FR et lecture serveur Mistral/Voxtral, avec reverse engineering du pipeline vocal AXA BFF.</a:t>
            </a:r>
          </a:p>
          <a:p>
            <a:r>
              <a:t>Trajectoire enterprise: Azure OpenAI + Databricks/Delta/Unity Catalog pour industrialiser données, gouvernance et monitoring.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663440"/>
            <a:ext cx="10424160" cy="658368"/>
          </a:xfrm>
          <a:prstGeom prst="rect">
            <a:avLst/>
          </a:prstGeom>
          <a:solidFill>
            <a:srgbClr val="ECF0FF"/>
          </a:solidFill>
          <a:ln>
            <a:solidFill>
              <a:srgbClr val="BCC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828032"/>
            <a:ext cx="9966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200">
                <a:solidFill>
                  <a:srgbClr val="00008F"/>
                </a:solidFill>
              </a:rPr>
              <a:t>Message à faire passer: nous n’avons pas seulement maquetté un chatbot; nous avons compris leur BFF, leurs sources, leurs citations, leurs métriques et leur trajectoire industrielle.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286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00008F"/>
                </a:solidFill>
              </a:rPr>
              <a:t>Voice reverse engineering: STT + TTS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13232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C6070"/>
                </a:solidFill>
              </a:rPr>
              <a:t>Le vrai assistant combine Web Speech API côté navigateur et génération audio serveur côté BFF.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34440"/>
            <a:ext cx="530352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E2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17920" y="1234440"/>
            <a:ext cx="530352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E2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4173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00008F"/>
                </a:solidFill>
              </a:rPr>
              <a:t>Speech-to-text observé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28232" y="14173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00008F"/>
                </a:solidFill>
              </a:rPr>
              <a:t>Text-to-speech observé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4754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0222D"/>
                </a:solidFill>
              </a:defRPr>
            </a:pPr>
            <a:r>
              <a:t>Création de window.webkitSpeechRecognition ou window.SpeechRecognition.</a:t>
            </a:r>
          </a:p>
          <a:p>
            <a:pPr>
              <a:spcAft>
                <a:spcPts val="500"/>
              </a:spcAft>
              <a:defRPr sz="1100">
                <a:solidFill>
                  <a:srgbClr val="20222D"/>
                </a:solidFill>
              </a:defRPr>
            </a:pPr>
            <a:r>
              <a:t>lang = fr-FR, continuous = false, interimResults = true, maxAlternatives = 1.</a:t>
            </a:r>
          </a:p>
          <a:p>
            <a:pPr>
              <a:spcAft>
                <a:spcPts val="500"/>
              </a:spcAft>
              <a:defRPr sz="1100">
                <a:solidFill>
                  <a:srgbClr val="20222D"/>
                </a:solidFill>
              </a:defRPr>
            </a:pPr>
            <a:r>
              <a:t>Les transcriptions interim remplissent la zone texte, limitées à 300 caractères.</a:t>
            </a:r>
          </a:p>
          <a:p>
            <a:pPr>
              <a:spcAft>
                <a:spcPts val="500"/>
              </a:spcAft>
              <a:defRPr sz="1100">
                <a:solidFill>
                  <a:srgbClr val="20222D"/>
                </a:solidFill>
              </a:defRPr>
            </a:pPr>
            <a:r>
              <a:t>Fin de parole: stop(), focus sur le textarea, puis envoi utilisateur.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28232" y="1874519"/>
            <a:ext cx="4754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0222D"/>
                </a:solidFill>
              </a:defRPr>
            </a:pPr>
            <a:r>
              <a:t>Bouton speaker sur chaque message assistant.</a:t>
            </a:r>
          </a:p>
          <a:p>
            <a:pPr>
              <a:spcAft>
                <a:spcPts val="500"/>
              </a:spcAft>
              <a:defRPr sz="1100">
                <a:solidFill>
                  <a:srgbClr val="20222D"/>
                </a:solidFill>
              </a:defRPr>
            </a:pPr>
            <a:r>
              <a:t>POST /generate-audio avec FormData(text) et X-CSRF: 1.</a:t>
            </a:r>
          </a:p>
          <a:p>
            <a:pPr>
              <a:spcAft>
                <a:spcPts val="500"/>
              </a:spcAft>
              <a:defRPr sz="1100">
                <a:solidFill>
                  <a:srgbClr val="20222D"/>
                </a:solidFill>
              </a:defRPr>
            </a:pPr>
            <a:r>
              <a:t>GET /audio-status/:id en SSE pour attendre la génération.</a:t>
            </a:r>
          </a:p>
          <a:p>
            <a:pPr>
              <a:spcAft>
                <a:spcPts val="500"/>
              </a:spcAft>
              <a:defRPr sz="1100">
                <a:solidFill>
                  <a:srgbClr val="20222D"/>
                </a:solidFill>
              </a:defRPr>
            </a:pPr>
            <a:r>
              <a:t>GET /get-audio/:id retourne un blob audio joué via new Audio + URL.createObjectURL.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5074920"/>
            <a:ext cx="10835640" cy="658368"/>
          </a:xfrm>
          <a:prstGeom prst="rect">
            <a:avLst/>
          </a:prstGeom>
          <a:solidFill>
            <a:srgbClr val="ECF0FF"/>
          </a:solidFill>
          <a:ln>
            <a:solidFill>
              <a:srgbClr val="E2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5239512"/>
            <a:ext cx="10332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Prototype: même UX vocale côté navigateur (dictée FR + lecture/pause), lecture serveur Mistral/Voxtral par défaut, et documentation du pipeline BFF serveur dans ce support.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AXA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858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t>Design system &amp; fidélité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3444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Canopée prospect pour les composants atomiques; custom UI pour coller à l’assistant public.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2880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Composants Canopée utilisés</a:t>
            </a:r>
          </a:p>
          <a:p>
            <a:pPr>
              <a:defRPr sz="1300"/>
            </a:pPr>
            <a:r>
              <a:t>Button, Link, Tag depuis @axa-fr/canopee-react/prospect. CSS prospect: tokens, reboot, ButtonApollo, LinkApollo, TagApollo.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Surfaces volontairement custom</a:t>
            </a:r>
          </a:p>
          <a:p>
            <a:pPr>
              <a:defRPr sz="1300"/>
            </a:pPr>
            <a:r>
              <a:t>Chat layout, bulles, preprompts, textarea, sources, telemetry et icônes: reproduits pour rester proche de l’iframe AXA observée.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Icônes et interactions reverse-engineered</a:t>
            </a:r>
          </a:p>
          <a:p>
            <a:pPr>
              <a:defRPr sz="1300"/>
            </a:pPr>
            <a:r>
              <a:t>Speaker SVG original AXA repris depuis le bundle public; comportement bouton aligné avec BotMessage-speaker-button.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Positionnement</a:t>
            </a:r>
          </a:p>
          <a:p>
            <a:pPr>
              <a:defRPr sz="1300"/>
            </a:pPr>
            <a:r>
              <a:t>Pas une application générique DS: un prototype fidèle au service public, avec Canopée prospect là où cela renforce la cohérence AXA.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0080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Prototype technique non officiel - support entretien - axa-prevention-coach.vercel.app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